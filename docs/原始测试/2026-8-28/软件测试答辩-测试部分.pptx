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e3a943cb384413" /><Relationship Type="http://schemas.openxmlformats.org/officeDocument/2006/relationships/extended-properties" Target="/docProps/app.xml" Id="R20c1895680554be5" /><Relationship Type="http://schemas.openxmlformats.org/officeDocument/2006/relationships/officeDocument" Target="/ppt/presentation.xml" Id="Ra9f77584c2ea46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4b99e3dde40c2"/>
  </p:sldMasterIdLst>
  <p:notesMasterIdLst>
    <p:notesMasterId xmlns:r="http://schemas.openxmlformats.org/officeDocument/2006/relationships" r:id="Raf910859f7014222"/>
  </p:notesMasterIdLst>
  <p:sldIdLst>
    <p:sldId xmlns:r="http://schemas.openxmlformats.org/officeDocument/2006/relationships" id="256" r:id="Rc3e8a52c29744c08"/>
    <p:sldId xmlns:r="http://schemas.openxmlformats.org/officeDocument/2006/relationships" id="257" r:id="R3999b90e34814b85"/>
    <p:sldId xmlns:r="http://schemas.openxmlformats.org/officeDocument/2006/relationships" id="258" r:id="R593f7960514b4eb4"/>
    <p:sldId xmlns:r="http://schemas.openxmlformats.org/officeDocument/2006/relationships" id="259" r:id="R7b5a17f3bfbc4b08"/>
    <p:sldId xmlns:r="http://schemas.openxmlformats.org/officeDocument/2006/relationships" id="260" r:id="R86cb2a0fee2f4084"/>
    <p:sldId xmlns:r="http://schemas.openxmlformats.org/officeDocument/2006/relationships" id="261" r:id="R361cfaf94a5e4b27"/>
    <p:sldId xmlns:r="http://schemas.openxmlformats.org/officeDocument/2006/relationships" id="262" r:id="R316d2792fb64423f"/>
    <p:sldId xmlns:r="http://schemas.openxmlformats.org/officeDocument/2006/relationships" id="263" r:id="R72a71649a1214b9e"/>
    <p:sldId xmlns:r="http://schemas.openxmlformats.org/officeDocument/2006/relationships" id="264" r:id="R974417d650d24b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4562a48a8643fb" /><Relationship Type="http://schemas.openxmlformats.org/officeDocument/2006/relationships/slideMaster" Target="/ppt/slideMasters/slideMaster1.xml" Id="Ra0b4b99e3dde40c2" /><Relationship Type="http://schemas.openxmlformats.org/officeDocument/2006/relationships/notesMaster" Target="/ppt/notesMasters/notesMaster1.xml" Id="Raf910859f7014222" /><Relationship Type="http://schemas.openxmlformats.org/officeDocument/2006/relationships/presProps" Target="/ppt/presProps.xml" Id="Rb68105e9cb3b4706" /><Relationship Type="http://schemas.openxmlformats.org/officeDocument/2006/relationships/tableStyles" Target="/ppt/tableStyles.xml" Id="R624d9add99e34821" /><Relationship Type="http://schemas.openxmlformats.org/officeDocument/2006/relationships/slide" Target="/ppt/slides/slide1.xml" Id="Rc3e8a52c29744c08" /><Relationship Type="http://schemas.openxmlformats.org/officeDocument/2006/relationships/slide" Target="/ppt/slides/slide2.xml" Id="R3999b90e34814b85" /><Relationship Type="http://schemas.openxmlformats.org/officeDocument/2006/relationships/slide" Target="/ppt/slides/slide3.xml" Id="R593f7960514b4eb4" /><Relationship Type="http://schemas.openxmlformats.org/officeDocument/2006/relationships/slide" Target="/ppt/slides/slide4.xml" Id="R7b5a17f3bfbc4b08" /><Relationship Type="http://schemas.openxmlformats.org/officeDocument/2006/relationships/slide" Target="/ppt/slides/slide5.xml" Id="R86cb2a0fee2f4084" /><Relationship Type="http://schemas.openxmlformats.org/officeDocument/2006/relationships/slide" Target="/ppt/slides/slide6.xml" Id="R361cfaf94a5e4b27" /><Relationship Type="http://schemas.openxmlformats.org/officeDocument/2006/relationships/slide" Target="/ppt/slides/slide7.xml" Id="R316d2792fb64423f" /><Relationship Type="http://schemas.openxmlformats.org/officeDocument/2006/relationships/slide" Target="/ppt/slides/slide8.xml" Id="R72a71649a1214b9e" /><Relationship Type="http://schemas.openxmlformats.org/officeDocument/2006/relationships/slide" Target="/ppt/slides/slide9.xml" Id="R974417d650d2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00f036568b46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d4e07163e044b4" /><Relationship Type="http://schemas.openxmlformats.org/officeDocument/2006/relationships/notesMaster" Target="/ppt/notesMasters/notesMaster1.xml" Id="R7b02b4c00dac4a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480f023e64406" /><Relationship Type="http://schemas.openxmlformats.org/officeDocument/2006/relationships/notesMaster" Target="/ppt/notesMasters/notesMaster1.xml" Id="Rc7a0d5cb4b9342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839fee2d74e7c" /><Relationship Type="http://schemas.openxmlformats.org/officeDocument/2006/relationships/notesMaster" Target="/ppt/notesMasters/notesMaster1.xml" Id="R0104f4fec4a14e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39fe7c56ee421f" /><Relationship Type="http://schemas.openxmlformats.org/officeDocument/2006/relationships/notesMaster" Target="/ppt/notesMasters/notesMaster1.xml" Id="Re39ac476285e49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191e70d99462b" /><Relationship Type="http://schemas.openxmlformats.org/officeDocument/2006/relationships/notesMaster" Target="/ppt/notesMasters/notesMaster1.xml" Id="R9a1055faaa634d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6c338fba41443f" /><Relationship Type="http://schemas.openxmlformats.org/officeDocument/2006/relationships/notesMaster" Target="/ppt/notesMasters/notesMaster1.xml" Id="Ra3d51bde82994e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69d46330e2452f" /><Relationship Type="http://schemas.openxmlformats.org/officeDocument/2006/relationships/notesMaster" Target="/ppt/notesMasters/notesMaster1.xml" Id="R63995f274f4c41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f3e85aecb4426c" /><Relationship Type="http://schemas.openxmlformats.org/officeDocument/2006/relationships/notesMaster" Target="/ppt/notesMasters/notesMaster1.xml" Id="R78859dab4b344d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552975f86d4efe" /><Relationship Type="http://schemas.openxmlformats.org/officeDocument/2006/relationships/notesMaster" Target="/ppt/notesMasters/notesMaster1.xml" Id="R672c0937985349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开场先给结论：10个用例全部具备需求、设计、代码和测试证据。</a:t>
            </a:r>
          </a:p>
          <a:p xmlns:a="http://schemas.openxmlformats.org/drawingml/2006/main">
            <a:r>
              <a:t>本机72项自动化检查全部通过。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docs/范文歆/2026-8-28/软件测试追溯表-最终版.xlsx</a:t>
            </a:r>
          </a:p>
          <a:p xmlns:a="http://schemas.openxmlformats.org/drawingml/2006/main">
            <a:r>
              <a:t>- test-results/e2e-local.json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四层测试不是重复，而是定位粒度不同。</a:t>
            </a:r>
          </a:p>
          <a:p xmlns:a="http://schemas.openxmlformats.org/drawingml/2006/main">
            <a:r>
              <a:t>单元和DAO负责快速反馈，API确认契约，E2E确认跨模块业务闭环。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backend/tests/unit/*.test.ts</a:t>
            </a:r>
          </a:p>
          <a:p xmlns:a="http://schemas.openxmlformats.org/drawingml/2006/main">
            <a:r>
              <a:t>- backend/tests/integration/prisma-dao.test.ts</a:t>
            </a:r>
          </a:p>
          <a:p xmlns:a="http://schemas.openxmlformats.org/drawingml/2006/main">
            <a:r>
              <a:t>- tests/api/api-use-cases.test.mjs</a:t>
            </a:r>
          </a:p>
          <a:p xmlns:a="http://schemas.openxmlformats.org/drawingml/2006/main">
            <a:r>
              <a:t>- tests/e2e/all-use-cases.e2e.mjs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展示Excel中的追溯总表和编号字典。</a:t>
            </a:r>
          </a:p>
          <a:p xmlns:a="http://schemas.openxmlformats.org/drawingml/2006/main">
            <a:r>
              <a:t>强调设计编号并非只做目录，而是与类和测试ID绑定。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docs/范文歆/2026-8-28/软件测试追溯表-最终版.xlsx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测试数由43个单元、4个DAO、15个API、10个E2E组成。</a:t>
            </a:r>
          </a:p>
          <a:p xmlns:a="http://schemas.openxmlformats.org/drawingml/2006/main">
            <a:r>
              <a:t>完整构建同时通过，前端仅有非阻断的包体积提示。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test-results/api-use-cases.json</a:t>
            </a:r>
          </a:p>
          <a:p xmlns:a="http://schemas.openxmlformats.org/drawingml/2006/main">
            <a:r>
              <a:t>- test-results/e2e-local.json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主流程验证教师发布后，学生能够标记已读并在列表回查到read=true。</a:t>
            </a:r>
          </a:p>
          <a:p xmlns:a="http://schemas.openxmlformats.org/drawingml/2006/main">
            <a:r>
              <a:t>异常流程验证学生越权发布返回403。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backend/src/routes/announcements.ts</a:t>
            </a:r>
          </a:p>
          <a:p xmlns:a="http://schemas.openxmlformats.org/drawingml/2006/main">
            <a:r>
              <a:t>- tests/api/api-use-cases.test.mjs</a:t>
            </a:r>
          </a:p>
          <a:p xmlns:a="http://schemas.openxmlformats.org/drawingml/2006/main">
            <a:r>
              <a:t>- tests/e2e/all-use-cases.e2e.mjs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这是最完整的跨角色链路，覆盖教师和学生两个端的状态变化。</a:t>
            </a:r>
          </a:p>
          <a:p xmlns:a="http://schemas.openxmlformats.org/drawingml/2006/main">
            <a:r>
              <a:t>结束后删除临时作业，避免污染演示数据。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backend/src/routes/homework.ts</a:t>
            </a:r>
          </a:p>
          <a:p xmlns:a="http://schemas.openxmlformats.org/drawingml/2006/main">
            <a:r>
              <a:t>- backend/src/routes/homework-student.ts</a:t>
            </a:r>
          </a:p>
          <a:p xmlns:a="http://schemas.openxmlformats.org/drawingml/2006/main">
            <a:r>
              <a:t>- tests/e2e/all-use-cases.e2e.mjs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用人工评测模式避免依赖异步Worker，也仍验证了完整业务状态PENDING_REVIEW。</a:t>
            </a:r>
          </a:p>
          <a:p xmlns:a="http://schemas.openxmlformats.org/drawingml/2006/main">
            <a:r>
              <a:t>实验集使用force=1级联清理题目、用例和提交。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backend/src/routes/lab-sets.ts</a:t>
            </a:r>
          </a:p>
          <a:p xmlns:a="http://schemas.openxmlformats.org/drawingml/2006/main">
            <a:r>
              <a:t>- backend/src/routes/labs.ts</a:t>
            </a:r>
          </a:p>
          <a:p xmlns:a="http://schemas.openxmlformats.org/drawingml/2006/main">
            <a:r>
              <a:t>- backend/src/lib/lab-submit.ts</a:t>
            </a:r>
          </a:p>
          <a:p xmlns:a="http://schemas.openxmlformats.org/drawingml/2006/main">
            <a:r>
              <a:t>- tests/e2e/all-use-cases.e2e.mjs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GitHub Actions质量任务已加入DAO、API和E2E阶段。</a:t>
            </a:r>
          </a:p>
          <a:p xmlns:a="http://schemas.openxmlformats.org/drawingml/2006/main">
            <a:r>
              <a:t>images与deploy任务依赖quality，测试失败自然阻断。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.github/workflows/ci-cd.yml</a:t>
            </a:r>
          </a:p>
          <a:p xmlns:a="http://schemas.openxmlformats.org/drawingml/2006/main">
            <a:r>
              <a:t>- test-results/ci-failure-blocking.json</a:t>
            </a:r>
          </a:p>
          <a:p xmlns:a="http://schemas.openxmlformats.org/drawingml/2006/main">
            <a:r>
              <a:t>- test-results/e2e-k8s.json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收束到三句话：全覆盖、全追溯、失败可阻断。</a:t>
            </a:r>
          </a:p>
          <a:p xmlns:a="http://schemas.openxmlformats.org/drawingml/2006/main">
            <a:r>
              <a:t>打开最终提交清单逐项展示文件。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docs/范文歆/2026-8-28/00-D4-D5-全部任务完成清单.md</a:t>
            </a:r>
          </a:p>
          <a:p xmlns:a="http://schemas.openxmlformats.org/drawingml/2006/main">
            <a:r>
              <a:t>- docs/范文歆/2026-8-28/04-D5-最终测试报告.md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402634e5949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46e26724744ce5" /><Relationship Type="http://schemas.openxmlformats.org/officeDocument/2006/relationships/slideLayout" Target="/ppt/slideLayouts/slideLayout1.xml" Id="Rf90b3f75172741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0b3f75172741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c4cdadaf94a50" /><Relationship Type="http://schemas.openxmlformats.org/officeDocument/2006/relationships/notesSlide" Target="/ppt/notesSlides/notesSlide1.xml" Id="Rd14dc9eff5a24d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9304c9acc4f6f" /><Relationship Type="http://schemas.openxmlformats.org/officeDocument/2006/relationships/notesSlide" Target="/ppt/notesSlides/notesSlide2.xml" Id="Rad37eb6a70054d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2b5b9a3c8429c" /><Relationship Type="http://schemas.openxmlformats.org/officeDocument/2006/relationships/notesSlide" Target="/ppt/notesSlides/notesSlide3.xml" Id="Re92a6df3163143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06d1404924ac5" /><Relationship Type="http://schemas.openxmlformats.org/officeDocument/2006/relationships/notesSlide" Target="/ppt/notesSlides/notesSlide4.xml" Id="R41486a7a403a42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0ee934a4d4c34" /><Relationship Type="http://schemas.openxmlformats.org/officeDocument/2006/relationships/notesSlide" Target="/ppt/notesSlides/notesSlide5.xml" Id="Rd32c0499c38a4e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036ffcc944514" /><Relationship Type="http://schemas.openxmlformats.org/officeDocument/2006/relationships/notesSlide" Target="/ppt/notesSlides/notesSlide6.xml" Id="R13bfee2d8c1f43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e1039a63b4486" /><Relationship Type="http://schemas.openxmlformats.org/officeDocument/2006/relationships/notesSlide" Target="/ppt/notesSlides/notesSlide7.xml" Id="R9b046b6a07a046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5c724faae45b4" /><Relationship Type="http://schemas.openxmlformats.org/officeDocument/2006/relationships/notesSlide" Target="/ppt/notesSlides/notesSlide8.xml" Id="R3ae36291a6d441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a744f7eec4089" /><Relationship Type="http://schemas.openxmlformats.org/officeDocument/2006/relationships/notesSlide" Target="/ppt/notesSlides/notesSlide9.xml" Id="R21dae455c1f242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BA83C56-3A71-4515-BF36-23B3B2D8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从需求追溯到
72项自动化验证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8D9D77B-E5EC-46FA-94AC-657B1830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范文歆｜教学平台｜2026-08-28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8F0B1EC-CBCB-4147-8D8E-60D55658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软件测试答辩 · 测试部分</a:t>
            </a:r>
          </a:p>
        </p:txBody>
      </p:sp>
    </p:spTree>
    <p:extLst>
      <p:ext uri="{BB962C8B-B14F-4D97-AF65-F5344CB8AC3E}">
        <p14:creationId xmlns:p14="http://schemas.microsoft.com/office/powerpoint/2010/main" val="381330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2">
            <a:extLst xmlns:a="http://schemas.openxmlformats.org/drawingml/2006/main">
              <a:ext uri="{FF2B5EF4-FFF2-40B4-BE49-F238E27FC236}">
                <a16:creationId xmlns:a16="http://schemas.microsoft.com/office/drawing/2014/main" id="{663BBCBC-2FC3-4CD1-9C3D-C6B03690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 · TEST STRATEGY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B7D8038-37DF-4028-BFAE-87941CAF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测试策略：四层防线覆盖同一批业务风险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0DAD2785-DFCC-42A6-82A2-2AB6D5E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1D9C026-613A-47C5-82DD-4F2BA16E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strategy-0">
            <a:extLst xmlns:a="http://schemas.openxmlformats.org/drawingml/2006/main">
              <a:ext uri="{FF2B5EF4-FFF2-40B4-BE49-F238E27FC236}">
                <a16:creationId xmlns:a16="http://schemas.microsoft.com/office/drawing/2014/main" id="{CA32F5DE-E438-4666-9009-CA7B6613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533650" cy="32385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strategy-accent-0">
            <a:extLst xmlns:a="http://schemas.openxmlformats.org/drawingml/2006/main">
              <a:ext uri="{FF2B5EF4-FFF2-40B4-BE49-F238E27FC236}">
                <a16:creationId xmlns:a16="http://schemas.microsoft.com/office/drawing/2014/main" id="{3794EE4E-4D65-48A7-AB02-5B68B4F1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2533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7" name="strategy-label-0">
            <a:extLst xmlns:a="http://schemas.openxmlformats.org/drawingml/2006/main">
              <a:ext uri="{FF2B5EF4-FFF2-40B4-BE49-F238E27FC236}">
                <a16:creationId xmlns:a16="http://schemas.microsoft.com/office/drawing/2014/main" id="{E10BFEF0-2191-4D3E-ABE2-F9ED1DC5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单元</a:t>
            </a:r>
          </a:p>
        </p:txBody>
      </p:sp>
      <p:sp>
        <p:nvSpPr>
          <p:cNvPr id="8" name="strategy-stat-0">
            <a:extLst xmlns:a="http://schemas.openxmlformats.org/drawingml/2006/main">
              <a:ext uri="{FF2B5EF4-FFF2-40B4-BE49-F238E27FC236}">
                <a16:creationId xmlns:a16="http://schemas.microsoft.com/office/drawing/2014/main" id="{A5C3EF39-1695-4E51-89C7-502D59E4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43项</a:t>
            </a:r>
          </a:p>
        </p:txBody>
      </p:sp>
      <p:sp>
        <p:nvSpPr>
          <p:cNvPr id="9" name="strategy-body-0">
            <a:extLst xmlns:a="http://schemas.openxmlformats.org/drawingml/2006/main">
              <a:ext uri="{FF2B5EF4-FFF2-40B4-BE49-F238E27FC236}">
                <a16:creationId xmlns:a16="http://schemas.microsoft.com/office/drawing/2014/main" id="{FADC4D3E-5968-45AD-A26F-3A63BE2B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业务规则与边界</a:t>
            </a:r>
          </a:p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快速定位逻辑缺陷</a:t>
            </a:r>
          </a:p>
        </p:txBody>
      </p:sp>
      <p:sp>
        <p:nvSpPr>
          <p:cNvPr id="10" name="strategy-1">
            <a:extLst xmlns:a="http://schemas.openxmlformats.org/drawingml/2006/main">
              <a:ext uri="{FF2B5EF4-FFF2-40B4-BE49-F238E27FC236}">
                <a16:creationId xmlns:a16="http://schemas.microsoft.com/office/drawing/2014/main" id="{6D7ED867-4540-473C-9FBB-C02F891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24050"/>
            <a:ext cx="2533650" cy="32385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strategy-accent-1">
            <a:extLst xmlns:a="http://schemas.openxmlformats.org/drawingml/2006/main">
              <a:ext uri="{FF2B5EF4-FFF2-40B4-BE49-F238E27FC236}">
                <a16:creationId xmlns:a16="http://schemas.microsoft.com/office/drawing/2014/main" id="{F6B0531E-3A31-40DF-9DD0-0A9C50FA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24050"/>
            <a:ext cx="2533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4C7"/>
          </a:solidFill>
          <a:ln xmlns:a="http://schemas.openxmlformats.org/drawingml/2006/main" w="0">
            <a:noFill/>
          </a:ln>
        </p:spPr>
      </p:sp>
      <p:sp>
        <p:nvSpPr>
          <p:cNvPr id="12" name="strategy-label-1">
            <a:extLst xmlns:a="http://schemas.openxmlformats.org/drawingml/2006/main">
              <a:ext uri="{FF2B5EF4-FFF2-40B4-BE49-F238E27FC236}">
                <a16:creationId xmlns:a16="http://schemas.microsoft.com/office/drawing/2014/main" id="{6724C1C9-1DB7-4DC5-9C8C-F811E09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DAO</a:t>
            </a:r>
          </a:p>
        </p:txBody>
      </p:sp>
      <p:sp>
        <p:nvSpPr>
          <p:cNvPr id="13" name="strategy-stat-1">
            <a:extLst xmlns:a="http://schemas.openxmlformats.org/drawingml/2006/main">
              <a:ext uri="{FF2B5EF4-FFF2-40B4-BE49-F238E27FC236}">
                <a16:creationId xmlns:a16="http://schemas.microsoft.com/office/drawing/2014/main" id="{4F0DBF4D-38AC-4193-B558-8B2ACCF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A4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2A4C7"/>
                </a:solidFill>
                <a:latin typeface="Microsoft YaHei"/>
                <a:ea typeface="Microsoft YaHei"/>
                <a:cs typeface="Microsoft YaHei"/>
              </a:rPr>
              <a:t>4项</a:t>
            </a:r>
          </a:p>
        </p:txBody>
      </p:sp>
      <p:sp>
        <p:nvSpPr>
          <p:cNvPr id="14" name="strategy-body-1">
            <a:extLst xmlns:a="http://schemas.openxmlformats.org/drawingml/2006/main">
              <a:ext uri="{FF2B5EF4-FFF2-40B4-BE49-F238E27FC236}">
                <a16:creationId xmlns:a16="http://schemas.microsoft.com/office/drawing/2014/main" id="{7B924021-B1DA-4281-A880-773A13E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事务、复合键、upsert</a:t>
            </a:r>
          </a:p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与级联删除</a:t>
            </a:r>
          </a:p>
        </p:txBody>
      </p:sp>
      <p:sp>
        <p:nvSpPr>
          <p:cNvPr id="15" name="strategy-2">
            <a:extLst xmlns:a="http://schemas.openxmlformats.org/drawingml/2006/main">
              <a:ext uri="{FF2B5EF4-FFF2-40B4-BE49-F238E27FC236}">
                <a16:creationId xmlns:a16="http://schemas.microsoft.com/office/drawing/2014/main" id="{221754E8-CA45-4F35-B6C9-F3C2B4C9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24050"/>
            <a:ext cx="2533650" cy="32385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6" name="strategy-accent-2">
            <a:extLst xmlns:a="http://schemas.openxmlformats.org/drawingml/2006/main">
              <a:ext uri="{FF2B5EF4-FFF2-40B4-BE49-F238E27FC236}">
                <a16:creationId xmlns:a16="http://schemas.microsoft.com/office/drawing/2014/main" id="{423EAA2A-FA69-445C-A84B-A3310E8D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24050"/>
            <a:ext cx="2533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</a:ln>
        </p:spPr>
      </p:sp>
      <p:sp>
        <p:nvSpPr>
          <p:cNvPr id="17" name="strategy-label-2">
            <a:extLst xmlns:a="http://schemas.openxmlformats.org/drawingml/2006/main">
              <a:ext uri="{FF2B5EF4-FFF2-40B4-BE49-F238E27FC236}">
                <a16:creationId xmlns:a16="http://schemas.microsoft.com/office/drawing/2014/main" id="{7604A45C-2CCF-4C58-BE5E-678006C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</p:txBody>
      </p:sp>
      <p:sp>
        <p:nvSpPr>
          <p:cNvPr id="18" name="strategy-stat-2">
            <a:extLst xmlns:a="http://schemas.openxmlformats.org/drawingml/2006/main">
              <a:ext uri="{FF2B5EF4-FFF2-40B4-BE49-F238E27FC236}">
                <a16:creationId xmlns:a16="http://schemas.microsoft.com/office/drawing/2014/main" id="{F447CD16-05B3-4D2E-9DDD-46A2613C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15项</a:t>
            </a:r>
          </a:p>
        </p:txBody>
      </p:sp>
      <p:sp>
        <p:nvSpPr>
          <p:cNvPr id="19" name="strategy-body-2">
            <a:extLst xmlns:a="http://schemas.openxmlformats.org/drawingml/2006/main">
              <a:ext uri="{FF2B5EF4-FFF2-40B4-BE49-F238E27FC236}">
                <a16:creationId xmlns:a16="http://schemas.microsoft.com/office/drawing/2014/main" id="{D628F8A5-098D-4BCE-BDE4-88468707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10条主成功流程</a:t>
            </a:r>
          </a:p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+ 5条异常/备选</a:t>
            </a:r>
          </a:p>
        </p:txBody>
      </p:sp>
      <p:sp>
        <p:nvSpPr>
          <p:cNvPr id="20" name="strategy-3">
            <a:extLst xmlns:a="http://schemas.openxmlformats.org/drawingml/2006/main">
              <a:ext uri="{FF2B5EF4-FFF2-40B4-BE49-F238E27FC236}">
                <a16:creationId xmlns:a16="http://schemas.microsoft.com/office/drawing/2014/main" id="{4B5C92A6-0F0A-4EAC-ACBC-CBD9F48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2533650" cy="32385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1" name="strategy-accent-3">
            <a:extLst xmlns:a="http://schemas.openxmlformats.org/drawingml/2006/main">
              <a:ext uri="{FF2B5EF4-FFF2-40B4-BE49-F238E27FC236}">
                <a16:creationId xmlns:a16="http://schemas.microsoft.com/office/drawing/2014/main" id="{94482FF8-9B55-44AB-B5B6-A9D5478A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2533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</a:ln>
        </p:spPr>
      </p:sp>
      <p:sp>
        <p:nvSpPr>
          <p:cNvPr id="22" name="strategy-label-3">
            <a:extLst xmlns:a="http://schemas.openxmlformats.org/drawingml/2006/main">
              <a:ext uri="{FF2B5EF4-FFF2-40B4-BE49-F238E27FC236}">
                <a16:creationId xmlns:a16="http://schemas.microsoft.com/office/drawing/2014/main" id="{93A27854-5849-41D2-B356-399EA763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E2E</a:t>
            </a:r>
          </a:p>
        </p:txBody>
      </p:sp>
      <p:sp>
        <p:nvSpPr>
          <p:cNvPr id="23" name="strategy-stat-3">
            <a:extLst xmlns:a="http://schemas.openxmlformats.org/drawingml/2006/main">
              <a:ext uri="{FF2B5EF4-FFF2-40B4-BE49-F238E27FC236}">
                <a16:creationId xmlns:a16="http://schemas.microsoft.com/office/drawing/2014/main" id="{9CDA2D79-AC4B-415C-A47D-CAC1287D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2076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rPr>
              <a:t>10项</a:t>
            </a:r>
          </a:p>
        </p:txBody>
      </p:sp>
      <p:sp>
        <p:nvSpPr>
          <p:cNvPr id="24" name="strategy-body-3">
            <a:extLst xmlns:a="http://schemas.openxmlformats.org/drawingml/2006/main">
              <a:ext uri="{FF2B5EF4-FFF2-40B4-BE49-F238E27FC236}">
                <a16:creationId xmlns:a16="http://schemas.microsoft.com/office/drawing/2014/main" id="{C9CAFD15-5E64-4E1C-9FD5-9BF37D0B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2076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每个用例1条完整链路</a:t>
            </a:r>
          </a:p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含状态验证与清理</a:t>
            </a:r>
          </a:p>
        </p:txBody>
      </p:sp>
      <p:sp>
        <p:nvSpPr>
          <p:cNvPr id="25" name="strategy-foot">
            <a:extLst xmlns:a="http://schemas.openxmlformats.org/drawingml/2006/main">
              <a:ext uri="{FF2B5EF4-FFF2-40B4-BE49-F238E27FC236}">
                <a16:creationId xmlns:a16="http://schemas.microsoft.com/office/drawing/2014/main" id="{684969CB-7AB8-4026-87E5-71D7EA4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原则：主流程全覆盖，核心风险补异常；E2E必须看到业务结果，而不是只检查HTTP 200。</a:t>
            </a:r>
          </a:p>
        </p:txBody>
      </p:sp>
    </p:spTree>
    <p:extLst>
      <p:ext uri="{BB962C8B-B14F-4D97-AF65-F5344CB8AC3E}">
        <p14:creationId xmlns:p14="http://schemas.microsoft.com/office/powerpoint/2010/main" val="344365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3">
            <a:extLst xmlns:a="http://schemas.openxmlformats.org/drawingml/2006/main">
              <a:ext uri="{FF2B5EF4-FFF2-40B4-BE49-F238E27FC236}">
                <a16:creationId xmlns:a16="http://schemas.microsoft.com/office/drawing/2014/main" id="{888EBB5B-9673-4190-8CEA-C83164E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 · TRACEABILITY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5649397-D283-4B99-8FBF-C6CD8B24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追溯表：10个用例均形成可审计闭环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29824304-82E9-4BC6-B66E-EE478AA5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AB14759-691A-4480-84D9-12F8F06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" y="1885950"/>
          <a:ext xmlns:a="http://schemas.openxmlformats.org/drawingml/2006/main" cx="11277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2381250"/>
                <a:gridCol w="2952750"/>
                <a:gridCol w="1428750"/>
                <a:gridCol w="30861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覆盖范围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编号规则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/>
                        <a:t>需求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REQ-01～REQ-10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每个用例1条需求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38A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</a:t>
                      </a:r>
                    </a:p>
                  </a:txBody>
                  <a:tcPr marL="91440" marR="91440" marT="45720" marB="45720">
                    <a:solidFill>
                      <a:srgbClr val="E8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需求说明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/>
                        <a:t>三层设计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系统/组件/对象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SYS / COMP / OBJ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38A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30/30</a:t>
                      </a:r>
                    </a:p>
                  </a:txBody>
                  <a:tcPr marL="91440" marR="91440" marT="45720" marB="45720">
                    <a:solidFill>
                      <a:srgbClr val="E8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设计编号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/>
                        <a:t>代码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Controller/Service/DAO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涉及类逐行回填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38A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</a:t>
                      </a:r>
                    </a:p>
                  </a:txBody>
                  <a:tcPr marL="91440" marR="91440" marT="45720" marB="45720">
                    <a:solidFill>
                      <a:srgbClr val="E8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代码模块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/>
                        <a:t>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Unit/DAO/API/E2E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四层测试ID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38A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</a:t>
                      </a:r>
                    </a:p>
                  </a:txBody>
                  <a:tcPr marL="91440" marR="91440" marT="45720" marB="45720">
                    <a:solidFill>
                      <a:srgbClr val="E8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测试编号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200"/>
                        <a:t>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本机自动化验收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/>
                        <a:t>通过/失败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38A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8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JSON报告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trace-foot">
            <a:extLst xmlns:a="http://schemas.openxmlformats.org/drawingml/2006/main">
              <a:ext uri="{FF2B5EF4-FFF2-40B4-BE49-F238E27FC236}">
                <a16:creationId xmlns:a16="http://schemas.microsoft.com/office/drawing/2014/main" id="{32E35DCD-3BC0-4C82-AF63-D86E29C2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rPr>
              <a:t>每一行都能从需求编号一路追到E2E结果，完整度公式为100%。</a:t>
            </a:r>
          </a:p>
        </p:txBody>
      </p:sp>
    </p:spTree>
    <p:extLst>
      <p:ext uri="{BB962C8B-B14F-4D97-AF65-F5344CB8AC3E}">
        <p14:creationId xmlns:p14="http://schemas.microsoft.com/office/powerpoint/2010/main" val="1461308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C02937C-D769-4685-963F-89246985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A39B7D6-BBC7-44F2-84D0-3DF5B81C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DDCAC2E-4677-4D6C-94FC-7AABF1B3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8F0F6C4-D20F-4536-8648-8D14754F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2383E8C-4995-446B-9DB6-473C5960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本机自动化验收：72项检查全部通过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F5C865E-0060-462A-8449-07241BDD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自动化检查通过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D30C8A9-1648-4991-A5BB-7CF675B4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失败数量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CED00EC-7870-4D55-A532-B05600F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业务用例覆盖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3518EEB-F74F-4ACB-87D3-A4C789C7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rPr>
              <a:t>72 / 72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67B6F1F-1A1F-4478-9C1E-9A60904E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952FE70-7B4F-41E5-A600-0D58330F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B542C11-D364-48D8-A9CD-1F11AB6B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一次命令完成四层测试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根目录 npm test 顺序执行单元、DAO、API与E2E；任一阶段非零退出都会停止后续步骤。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98205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5">
            <a:extLst xmlns:a="http://schemas.openxmlformats.org/drawingml/2006/main">
              <a:ext uri="{FF2B5EF4-FFF2-40B4-BE49-F238E27FC236}">
                <a16:creationId xmlns:a16="http://schemas.microsoft.com/office/drawing/2014/main" id="{F52CFB6F-F207-4762-8619-FEB8A18C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 · REPRESENTATIVE CHAIN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DFAAE8D-CE88-4B37-B295-9C97CC46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代表链路一：UC-03课程公告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1A56128D-8494-46FC-A710-18C37035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CC20B066-914D-4D87-BFC6-F1F84CF0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connector-5-0">
            <a:extLst xmlns:a="http://schemas.openxmlformats.org/drawingml/2006/main">
              <a:ext uri="{FF2B5EF4-FFF2-40B4-BE49-F238E27FC236}">
                <a16:creationId xmlns:a16="http://schemas.microsoft.com/office/drawing/2014/main" id="{9BC59D19-EA80-4784-A87B-4F9FF346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9875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6" name="connector-5-1">
            <a:extLst xmlns:a="http://schemas.openxmlformats.org/drawingml/2006/main">
              <a:ext uri="{FF2B5EF4-FFF2-40B4-BE49-F238E27FC236}">
                <a16:creationId xmlns:a16="http://schemas.microsoft.com/office/drawing/2014/main" id="{94C4FFDA-5F73-4934-ADE0-83F323AB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09875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7" name="connector-5-2">
            <a:extLst xmlns:a="http://schemas.openxmlformats.org/drawingml/2006/main">
              <a:ext uri="{FF2B5EF4-FFF2-40B4-BE49-F238E27FC236}">
                <a16:creationId xmlns:a16="http://schemas.microsoft.com/office/drawing/2014/main" id="{ED4141D2-BE18-4F01-AE97-5D34A2B8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connector-5-3">
            <a:extLst xmlns:a="http://schemas.openxmlformats.org/drawingml/2006/main">
              <a:ext uri="{FF2B5EF4-FFF2-40B4-BE49-F238E27FC236}">
                <a16:creationId xmlns:a16="http://schemas.microsoft.com/office/drawing/2014/main" id="{FB211CFD-8A55-4BB1-A1D6-56F07847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9875"/>
            <a:ext cx="42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9" name="node-5-0">
            <a:extLst xmlns:a="http://schemas.openxmlformats.org/drawingml/2006/main">
              <a:ext uri="{FF2B5EF4-FFF2-40B4-BE49-F238E27FC236}">
                <a16:creationId xmlns:a16="http://schemas.microsoft.com/office/drawing/2014/main" id="{3FF23B4C-A90D-4C1E-B690-6D012E7E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0" name="node-num-5-0">
            <a:extLst xmlns:a="http://schemas.openxmlformats.org/drawingml/2006/main">
              <a:ext uri="{FF2B5EF4-FFF2-40B4-BE49-F238E27FC236}">
                <a16:creationId xmlns:a16="http://schemas.microsoft.com/office/drawing/2014/main" id="{6B90A62D-383D-45B3-A6DE-060B78BB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node-title-5-0">
            <a:extLst xmlns:a="http://schemas.openxmlformats.org/drawingml/2006/main">
              <a:ext uri="{FF2B5EF4-FFF2-40B4-BE49-F238E27FC236}">
                <a16:creationId xmlns:a16="http://schemas.microsoft.com/office/drawing/2014/main" id="{F6C62044-D362-4081-B9C8-ECFE912D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教师发布</a:t>
            </a:r>
          </a:p>
        </p:txBody>
      </p:sp>
      <p:sp>
        <p:nvSpPr>
          <p:cNvPr id="12" name="node-5-1">
            <a:extLst xmlns:a="http://schemas.openxmlformats.org/drawingml/2006/main">
              <a:ext uri="{FF2B5EF4-FFF2-40B4-BE49-F238E27FC236}">
                <a16:creationId xmlns:a16="http://schemas.microsoft.com/office/drawing/2014/main" id="{8B0A1C23-2715-46F6-9A83-79669502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47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3" name="node-num-5-1">
            <a:extLst xmlns:a="http://schemas.openxmlformats.org/drawingml/2006/main">
              <a:ext uri="{FF2B5EF4-FFF2-40B4-BE49-F238E27FC236}">
                <a16:creationId xmlns:a16="http://schemas.microsoft.com/office/drawing/2014/main" id="{9CA2F353-B3D7-465E-8639-1AC7F54A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node-title-5-1">
            <a:extLst xmlns:a="http://schemas.openxmlformats.org/drawingml/2006/main">
              <a:ext uri="{FF2B5EF4-FFF2-40B4-BE49-F238E27FC236}">
                <a16:creationId xmlns:a16="http://schemas.microsoft.com/office/drawing/2014/main" id="{CD22F65D-62EF-49FD-93DD-14D8819D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051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数据库落库</a:t>
            </a:r>
          </a:p>
        </p:txBody>
      </p:sp>
      <p:sp>
        <p:nvSpPr>
          <p:cNvPr id="15" name="node-5-2">
            <a:extLst xmlns:a="http://schemas.openxmlformats.org/drawingml/2006/main">
              <a:ext uri="{FF2B5EF4-FFF2-40B4-BE49-F238E27FC236}">
                <a16:creationId xmlns:a16="http://schemas.microsoft.com/office/drawing/2014/main" id="{6C831BE4-28FD-47C7-94AB-D2A9B8CA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6" name="node-num-5-2">
            <a:extLst xmlns:a="http://schemas.openxmlformats.org/drawingml/2006/main">
              <a:ext uri="{FF2B5EF4-FFF2-40B4-BE49-F238E27FC236}">
                <a16:creationId xmlns:a16="http://schemas.microsoft.com/office/drawing/2014/main" id="{55215F6D-03A4-4C36-8B36-67CDDDA6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node-title-5-2">
            <a:extLst xmlns:a="http://schemas.openxmlformats.org/drawingml/2006/main">
              <a:ext uri="{FF2B5EF4-FFF2-40B4-BE49-F238E27FC236}">
                <a16:creationId xmlns:a16="http://schemas.microsoft.com/office/drawing/2014/main" id="{2775B87F-E52E-48A9-86E3-17826CAA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051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学生读取</a:t>
            </a:r>
          </a:p>
        </p:txBody>
      </p:sp>
      <p:sp>
        <p:nvSpPr>
          <p:cNvPr id="18" name="node-5-3">
            <a:extLst xmlns:a="http://schemas.openxmlformats.org/drawingml/2006/main">
              <a:ext uri="{FF2B5EF4-FFF2-40B4-BE49-F238E27FC236}">
                <a16:creationId xmlns:a16="http://schemas.microsoft.com/office/drawing/2014/main" id="{E6E59595-48E0-4B6B-915A-CCE6110F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47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9" name="node-num-5-3">
            <a:extLst xmlns:a="http://schemas.openxmlformats.org/drawingml/2006/main">
              <a:ext uri="{FF2B5EF4-FFF2-40B4-BE49-F238E27FC236}">
                <a16:creationId xmlns:a16="http://schemas.microsoft.com/office/drawing/2014/main" id="{BEAA5D51-CD79-43B3-B967-C68C129C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node-title-5-3">
            <a:extLst xmlns:a="http://schemas.openxmlformats.org/drawingml/2006/main">
              <a:ext uri="{FF2B5EF4-FFF2-40B4-BE49-F238E27FC236}">
                <a16:creationId xmlns:a16="http://schemas.microsoft.com/office/drawing/2014/main" id="{E5C00C0D-059B-465F-A462-111600EF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051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标记已读</a:t>
            </a:r>
          </a:p>
        </p:txBody>
      </p:sp>
      <p:sp>
        <p:nvSpPr>
          <p:cNvPr id="21" name="node-5-4">
            <a:extLst xmlns:a="http://schemas.openxmlformats.org/drawingml/2006/main">
              <a:ext uri="{FF2B5EF4-FFF2-40B4-BE49-F238E27FC236}">
                <a16:creationId xmlns:a16="http://schemas.microsoft.com/office/drawing/2014/main" id="{AEB6ECAB-1BC5-4BC3-BE39-5F26856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47900"/>
            <a:ext cx="1809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4288">
            <a:solidFill>
              <a:srgbClr val="138A5B"/>
            </a:solidFill>
            <a:prstDash val="solid"/>
          </a:ln>
        </p:spPr>
      </p:sp>
      <p:sp>
        <p:nvSpPr>
          <p:cNvPr id="22" name="node-num-5-4">
            <a:extLst xmlns:a="http://schemas.openxmlformats.org/drawingml/2006/main">
              <a:ext uri="{FF2B5EF4-FFF2-40B4-BE49-F238E27FC236}">
                <a16:creationId xmlns:a16="http://schemas.microsoft.com/office/drawing/2014/main" id="{596B6DA8-806D-4DC1-9EDF-31344946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node-title-5-4">
            <a:extLst xmlns:a="http://schemas.openxmlformats.org/drawingml/2006/main">
              <a:ext uri="{FF2B5EF4-FFF2-40B4-BE49-F238E27FC236}">
                <a16:creationId xmlns:a16="http://schemas.microsoft.com/office/drawing/2014/main" id="{75A62635-684B-49B2-999F-A6FEC00E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051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列表回查</a:t>
            </a:r>
          </a:p>
        </p:txBody>
      </p:sp>
      <p:sp>
        <p:nvSpPr>
          <p:cNvPr id="24" name="mapping-5">
            <a:extLst xmlns:a="http://schemas.openxmlformats.org/drawingml/2006/main">
              <a:ext uri="{FF2B5EF4-FFF2-40B4-BE49-F238E27FC236}">
                <a16:creationId xmlns:a16="http://schemas.microsoft.com/office/drawing/2014/main" id="{937E781F-B7F3-467E-A9E5-1821948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CD0FF"/>
            </a:solidFill>
            <a:prstDash val="solid"/>
          </a:ln>
        </p:spPr>
      </p:sp>
      <p:sp>
        <p:nvSpPr>
          <p:cNvPr id="25" name="mapping-title-5">
            <a:extLst xmlns:a="http://schemas.openxmlformats.org/drawingml/2006/main">
              <a:ext uri="{FF2B5EF4-FFF2-40B4-BE49-F238E27FC236}">
                <a16:creationId xmlns:a16="http://schemas.microsoft.com/office/drawing/2014/main" id="{75D38AA0-0D02-4049-B65F-8207BEA3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追溯映射</a:t>
            </a:r>
          </a:p>
        </p:txBody>
      </p:sp>
      <p:sp>
        <p:nvSpPr>
          <p:cNvPr id="26" name="mapping-body-5">
            <a:extLst xmlns:a="http://schemas.openxmlformats.org/drawingml/2006/main">
              <a:ext uri="{FF2B5EF4-FFF2-40B4-BE49-F238E27FC236}">
                <a16:creationId xmlns:a16="http://schemas.microsoft.com/office/drawing/2014/main" id="{1AEB67CF-86EC-4846-8D6D-4CFCD7EB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REQ-03 → SYS/COMP/OBJ-SEQ-03 → AnnouncementRoutes / NotificationEvents → UNIT-03 → API-03 → E2E-03</a:t>
            </a:r>
          </a:p>
        </p:txBody>
      </p:sp>
    </p:spTree>
    <p:extLst>
      <p:ext uri="{BB962C8B-B14F-4D97-AF65-F5344CB8AC3E}">
        <p14:creationId xmlns:p14="http://schemas.microsoft.com/office/powerpoint/2010/main" val="1994147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6">
            <a:extLst xmlns:a="http://schemas.openxmlformats.org/drawingml/2006/main">
              <a:ext uri="{FF2B5EF4-FFF2-40B4-BE49-F238E27FC236}">
                <a16:creationId xmlns:a16="http://schemas.microsoft.com/office/drawing/2014/main" id="{6C459FA3-798A-4F4A-85D4-36F8E540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 · REPRESENTATIVE CHAIN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457492E-5385-4F72-89A5-9FA57D52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代表链路二：UC-05在线作业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9C171F60-DB11-464A-BD79-4A6C4E9D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D493D718-0BAB-4680-A19D-BDFC3AA7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connector-6-0">
            <a:extLst xmlns:a="http://schemas.openxmlformats.org/drawingml/2006/main">
              <a:ext uri="{FF2B5EF4-FFF2-40B4-BE49-F238E27FC236}">
                <a16:creationId xmlns:a16="http://schemas.microsoft.com/office/drawing/2014/main" id="{932D0B4B-7EC7-4B0F-A98C-7509FD5D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6" name="connector-6-1">
            <a:extLst xmlns:a="http://schemas.openxmlformats.org/drawingml/2006/main">
              <a:ext uri="{FF2B5EF4-FFF2-40B4-BE49-F238E27FC236}">
                <a16:creationId xmlns:a16="http://schemas.microsoft.com/office/drawing/2014/main" id="{EB9D9907-C204-455E-B1E8-2F87E1E7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7" name="connector-6-2">
            <a:extLst xmlns:a="http://schemas.openxmlformats.org/drawingml/2006/main">
              <a:ext uri="{FF2B5EF4-FFF2-40B4-BE49-F238E27FC236}">
                <a16:creationId xmlns:a16="http://schemas.microsoft.com/office/drawing/2014/main" id="{55478067-8FEB-4E73-80E0-FAA857AD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connector-6-3">
            <a:extLst xmlns:a="http://schemas.openxmlformats.org/drawingml/2006/main">
              <a:ext uri="{FF2B5EF4-FFF2-40B4-BE49-F238E27FC236}">
                <a16:creationId xmlns:a16="http://schemas.microsoft.com/office/drawing/2014/main" id="{C23DCE50-1A17-4365-80E8-3635A80A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9" name="connector-6-4">
            <a:extLst xmlns:a="http://schemas.openxmlformats.org/drawingml/2006/main">
              <a:ext uri="{FF2B5EF4-FFF2-40B4-BE49-F238E27FC236}">
                <a16:creationId xmlns:a16="http://schemas.microsoft.com/office/drawing/2014/main" id="{65E9C5B4-E9EF-481A-8AA8-2C399853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10" name="node-6-0">
            <a:extLst xmlns:a="http://schemas.openxmlformats.org/drawingml/2006/main">
              <a:ext uri="{FF2B5EF4-FFF2-40B4-BE49-F238E27FC236}">
                <a16:creationId xmlns:a16="http://schemas.microsoft.com/office/drawing/2014/main" id="{EE24C307-634E-4DEA-8E61-29337D9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1" name="node-num-6-0">
            <a:extLst xmlns:a="http://schemas.openxmlformats.org/drawingml/2006/main">
              <a:ext uri="{FF2B5EF4-FFF2-40B4-BE49-F238E27FC236}">
                <a16:creationId xmlns:a16="http://schemas.microsoft.com/office/drawing/2014/main" id="{51210BC3-0A68-4AB3-B1CF-9DC04C3B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node-title-6-0">
            <a:extLst xmlns:a="http://schemas.openxmlformats.org/drawingml/2006/main">
              <a:ext uri="{FF2B5EF4-FFF2-40B4-BE49-F238E27FC236}">
                <a16:creationId xmlns:a16="http://schemas.microsoft.com/office/drawing/2014/main" id="{D262BF6A-5AED-44CA-9048-8C2D1C8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教师发布</a:t>
            </a:r>
          </a:p>
        </p:txBody>
      </p:sp>
      <p:sp>
        <p:nvSpPr>
          <p:cNvPr id="13" name="node-6-1">
            <a:extLst xmlns:a="http://schemas.openxmlformats.org/drawingml/2006/main">
              <a:ext uri="{FF2B5EF4-FFF2-40B4-BE49-F238E27FC236}">
                <a16:creationId xmlns:a16="http://schemas.microsoft.com/office/drawing/2014/main" id="{4A224003-7FAB-4639-8DAB-A627CE1F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4" name="node-num-6-1">
            <a:extLst xmlns:a="http://schemas.openxmlformats.org/drawingml/2006/main">
              <a:ext uri="{FF2B5EF4-FFF2-40B4-BE49-F238E27FC236}">
                <a16:creationId xmlns:a16="http://schemas.microsoft.com/office/drawing/2014/main" id="{614BBE20-6013-4E87-8E6B-8A3C80A6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node-title-6-1">
            <a:extLst xmlns:a="http://schemas.openxmlformats.org/drawingml/2006/main">
              <a:ext uri="{FF2B5EF4-FFF2-40B4-BE49-F238E27FC236}">
                <a16:creationId xmlns:a16="http://schemas.microsoft.com/office/drawing/2014/main" id="{0FC06FB2-CE45-4698-B7B2-F402A3D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学生提交</a:t>
            </a:r>
          </a:p>
        </p:txBody>
      </p:sp>
      <p:sp>
        <p:nvSpPr>
          <p:cNvPr id="16" name="node-6-2">
            <a:extLst xmlns:a="http://schemas.openxmlformats.org/drawingml/2006/main">
              <a:ext uri="{FF2B5EF4-FFF2-40B4-BE49-F238E27FC236}">
                <a16:creationId xmlns:a16="http://schemas.microsoft.com/office/drawing/2014/main" id="{47FB554A-E1BE-49F5-A66C-0DA186D3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7" name="node-num-6-2">
            <a:extLst xmlns:a="http://schemas.openxmlformats.org/drawingml/2006/main">
              <a:ext uri="{FF2B5EF4-FFF2-40B4-BE49-F238E27FC236}">
                <a16:creationId xmlns:a16="http://schemas.microsoft.com/office/drawing/2014/main" id="{ABF8DC52-B204-4C71-9C56-14696698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node-title-6-2">
            <a:extLst xmlns:a="http://schemas.openxmlformats.org/drawingml/2006/main">
              <a:ext uri="{FF2B5EF4-FFF2-40B4-BE49-F238E27FC236}">
                <a16:creationId xmlns:a16="http://schemas.microsoft.com/office/drawing/2014/main" id="{77728851-7531-488D-8B1C-A3F1E16D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教师读取</a:t>
            </a:r>
          </a:p>
        </p:txBody>
      </p:sp>
      <p:sp>
        <p:nvSpPr>
          <p:cNvPr id="19" name="node-6-3">
            <a:extLst xmlns:a="http://schemas.openxmlformats.org/drawingml/2006/main">
              <a:ext uri="{FF2B5EF4-FFF2-40B4-BE49-F238E27FC236}">
                <a16:creationId xmlns:a16="http://schemas.microsoft.com/office/drawing/2014/main" id="{87599FAD-2BEC-41DB-AC47-591479DB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20" name="node-num-6-3">
            <a:extLst xmlns:a="http://schemas.openxmlformats.org/drawingml/2006/main">
              <a:ext uri="{FF2B5EF4-FFF2-40B4-BE49-F238E27FC236}">
                <a16:creationId xmlns:a16="http://schemas.microsoft.com/office/drawing/2014/main" id="{34E6E757-0604-4CE1-84CB-8D2A00B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node-title-6-3">
            <a:extLst xmlns:a="http://schemas.openxmlformats.org/drawingml/2006/main">
              <a:ext uri="{FF2B5EF4-FFF2-40B4-BE49-F238E27FC236}">
                <a16:creationId xmlns:a16="http://schemas.microsoft.com/office/drawing/2014/main" id="{7E6283BE-BA89-4712-9D84-07AFFF55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批改92分</a:t>
            </a:r>
          </a:p>
        </p:txBody>
      </p:sp>
      <p:sp>
        <p:nvSpPr>
          <p:cNvPr id="22" name="node-6-4">
            <a:extLst xmlns:a="http://schemas.openxmlformats.org/drawingml/2006/main">
              <a:ext uri="{FF2B5EF4-FFF2-40B4-BE49-F238E27FC236}">
                <a16:creationId xmlns:a16="http://schemas.microsoft.com/office/drawing/2014/main" id="{006FB54B-4FB5-436B-A814-BEBE83BD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23" name="node-num-6-4">
            <a:extLst xmlns:a="http://schemas.openxmlformats.org/drawingml/2006/main">
              <a:ext uri="{FF2B5EF4-FFF2-40B4-BE49-F238E27FC236}">
                <a16:creationId xmlns:a16="http://schemas.microsoft.com/office/drawing/2014/main" id="{FEFE7093-5376-42F2-98DE-D429CAB3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node-title-6-4">
            <a:extLst xmlns:a="http://schemas.openxmlformats.org/drawingml/2006/main">
              <a:ext uri="{FF2B5EF4-FFF2-40B4-BE49-F238E27FC236}">
                <a16:creationId xmlns:a16="http://schemas.microsoft.com/office/drawing/2014/main" id="{0D575781-3D9F-4782-9AF2-88157356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发布成绩</a:t>
            </a:r>
          </a:p>
        </p:txBody>
      </p:sp>
      <p:sp>
        <p:nvSpPr>
          <p:cNvPr id="25" name="node-6-5">
            <a:extLst xmlns:a="http://schemas.openxmlformats.org/drawingml/2006/main">
              <a:ext uri="{FF2B5EF4-FFF2-40B4-BE49-F238E27FC236}">
                <a16:creationId xmlns:a16="http://schemas.microsoft.com/office/drawing/2014/main" id="{49277F56-9EB7-42FE-BB41-31CDAEB4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4288">
            <a:solidFill>
              <a:srgbClr val="138A5B"/>
            </a:solidFill>
            <a:prstDash val="solid"/>
          </a:ln>
        </p:spPr>
      </p:sp>
      <p:sp>
        <p:nvSpPr>
          <p:cNvPr id="26" name="node-num-6-5">
            <a:extLst xmlns:a="http://schemas.openxmlformats.org/drawingml/2006/main">
              <a:ext uri="{FF2B5EF4-FFF2-40B4-BE49-F238E27FC236}">
                <a16:creationId xmlns:a16="http://schemas.microsoft.com/office/drawing/2014/main" id="{49EF9734-87F5-497B-9440-86C14D7E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node-title-6-5">
            <a:extLst xmlns:a="http://schemas.openxmlformats.org/drawingml/2006/main">
              <a:ext uri="{FF2B5EF4-FFF2-40B4-BE49-F238E27FC236}">
                <a16:creationId xmlns:a16="http://schemas.microsoft.com/office/drawing/2014/main" id="{0AB68AAA-67DC-4472-B390-587291B2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学生查看</a:t>
            </a:r>
          </a:p>
        </p:txBody>
      </p:sp>
      <p:sp>
        <p:nvSpPr>
          <p:cNvPr id="28" name="mapping-6">
            <a:extLst xmlns:a="http://schemas.openxmlformats.org/drawingml/2006/main">
              <a:ext uri="{FF2B5EF4-FFF2-40B4-BE49-F238E27FC236}">
                <a16:creationId xmlns:a16="http://schemas.microsoft.com/office/drawing/2014/main" id="{098CCB30-794F-43F9-87F9-C1AC18A6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CD0FF"/>
            </a:solidFill>
            <a:prstDash val="solid"/>
          </a:ln>
        </p:spPr>
      </p:sp>
      <p:sp>
        <p:nvSpPr>
          <p:cNvPr id="29" name="mapping-title-6">
            <a:extLst xmlns:a="http://schemas.openxmlformats.org/drawingml/2006/main">
              <a:ext uri="{FF2B5EF4-FFF2-40B4-BE49-F238E27FC236}">
                <a16:creationId xmlns:a16="http://schemas.microsoft.com/office/drawing/2014/main" id="{69C2FED5-E981-4009-ADA0-BD262E8F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追溯映射</a:t>
            </a:r>
          </a:p>
        </p:txBody>
      </p:sp>
      <p:sp>
        <p:nvSpPr>
          <p:cNvPr id="30" name="mapping-body-6">
            <a:extLst xmlns:a="http://schemas.openxmlformats.org/drawingml/2006/main">
              <a:ext uri="{FF2B5EF4-FFF2-40B4-BE49-F238E27FC236}">
                <a16:creationId xmlns:a16="http://schemas.microsoft.com/office/drawing/2014/main" id="{0CBD9472-3D99-43C9-8D73-0F9A3D8D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REQ-05 → SYS/COMP/OBJ-SEQ-05 → HomeworkRoutes / HomeworkStudentRoutes → UNIT-05 → API-05 → E2E-05</a:t>
            </a:r>
          </a:p>
        </p:txBody>
      </p:sp>
    </p:spTree>
    <p:extLst>
      <p:ext uri="{BB962C8B-B14F-4D97-AF65-F5344CB8AC3E}">
        <p14:creationId xmlns:p14="http://schemas.microsoft.com/office/powerpoint/2010/main" val="1351636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7">
            <a:extLst xmlns:a="http://schemas.openxmlformats.org/drawingml/2006/main">
              <a:ext uri="{FF2B5EF4-FFF2-40B4-BE49-F238E27FC236}">
                <a16:creationId xmlns:a16="http://schemas.microsoft.com/office/drawing/2014/main" id="{422D27D9-EDB8-44DE-B94D-2A9F658B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 · REPRESENTATIVE CHAIN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B4DDA79-0CE3-4125-8B96-AAF0D60F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代表链路三：UC-06在线实验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25F49792-9DCE-4F3F-BB50-D2E8B329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1A6AF1B8-0561-4C1C-9B5B-BEB9E80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connector-7-0">
            <a:extLst xmlns:a="http://schemas.openxmlformats.org/drawingml/2006/main">
              <a:ext uri="{FF2B5EF4-FFF2-40B4-BE49-F238E27FC236}">
                <a16:creationId xmlns:a16="http://schemas.microsoft.com/office/drawing/2014/main" id="{90D9D0D7-20CB-44BB-AAE5-D54DA386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6" name="connector-7-1">
            <a:extLst xmlns:a="http://schemas.openxmlformats.org/drawingml/2006/main">
              <a:ext uri="{FF2B5EF4-FFF2-40B4-BE49-F238E27FC236}">
                <a16:creationId xmlns:a16="http://schemas.microsoft.com/office/drawing/2014/main" id="{902A2E01-B84B-4BC9-92C6-7D2DB3F6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7" name="connector-7-2">
            <a:extLst xmlns:a="http://schemas.openxmlformats.org/drawingml/2006/main">
              <a:ext uri="{FF2B5EF4-FFF2-40B4-BE49-F238E27FC236}">
                <a16:creationId xmlns:a16="http://schemas.microsoft.com/office/drawing/2014/main" id="{93B39C95-05A7-4141-AC89-5750B8B9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connector-7-3">
            <a:extLst xmlns:a="http://schemas.openxmlformats.org/drawingml/2006/main">
              <a:ext uri="{FF2B5EF4-FFF2-40B4-BE49-F238E27FC236}">
                <a16:creationId xmlns:a16="http://schemas.microsoft.com/office/drawing/2014/main" id="{84547F8D-D203-4E9F-8696-7051E6E2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9" name="connector-7-4">
            <a:extLst xmlns:a="http://schemas.openxmlformats.org/drawingml/2006/main">
              <a:ext uri="{FF2B5EF4-FFF2-40B4-BE49-F238E27FC236}">
                <a16:creationId xmlns:a16="http://schemas.microsoft.com/office/drawing/2014/main" id="{651AC8DC-309B-474A-B882-EA21DC61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098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10" name="node-7-0">
            <a:extLst xmlns:a="http://schemas.openxmlformats.org/drawingml/2006/main">
              <a:ext uri="{FF2B5EF4-FFF2-40B4-BE49-F238E27FC236}">
                <a16:creationId xmlns:a16="http://schemas.microsoft.com/office/drawing/2014/main" id="{F4E566BB-199B-481A-A972-5318E101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1" name="node-num-7-0">
            <a:extLst xmlns:a="http://schemas.openxmlformats.org/drawingml/2006/main">
              <a:ext uri="{FF2B5EF4-FFF2-40B4-BE49-F238E27FC236}">
                <a16:creationId xmlns:a16="http://schemas.microsoft.com/office/drawing/2014/main" id="{835A0D9A-EE30-478A-BF92-E6DED3A0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node-title-7-0">
            <a:extLst xmlns:a="http://schemas.openxmlformats.org/drawingml/2006/main">
              <a:ext uri="{FF2B5EF4-FFF2-40B4-BE49-F238E27FC236}">
                <a16:creationId xmlns:a16="http://schemas.microsoft.com/office/drawing/2014/main" id="{28180091-54B4-454A-A8E2-7F3B82C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创建实验集</a:t>
            </a:r>
          </a:p>
        </p:txBody>
      </p:sp>
      <p:sp>
        <p:nvSpPr>
          <p:cNvPr id="13" name="node-7-1">
            <a:extLst xmlns:a="http://schemas.openxmlformats.org/drawingml/2006/main">
              <a:ext uri="{FF2B5EF4-FFF2-40B4-BE49-F238E27FC236}">
                <a16:creationId xmlns:a16="http://schemas.microsoft.com/office/drawing/2014/main" id="{8453ED00-752C-411C-830D-32748AE6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4" name="node-num-7-1">
            <a:extLst xmlns:a="http://schemas.openxmlformats.org/drawingml/2006/main">
              <a:ext uri="{FF2B5EF4-FFF2-40B4-BE49-F238E27FC236}">
                <a16:creationId xmlns:a16="http://schemas.microsoft.com/office/drawing/2014/main" id="{74AADF09-B0A3-41BF-89F7-E9E9FCD2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node-title-7-1">
            <a:extLst xmlns:a="http://schemas.openxmlformats.org/drawingml/2006/main">
              <a:ext uri="{FF2B5EF4-FFF2-40B4-BE49-F238E27FC236}">
                <a16:creationId xmlns:a16="http://schemas.microsoft.com/office/drawing/2014/main" id="{54BCC4F8-AE1B-42CD-8F71-B397026E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设人工评测</a:t>
            </a:r>
          </a:p>
        </p:txBody>
      </p:sp>
      <p:sp>
        <p:nvSpPr>
          <p:cNvPr id="16" name="node-7-2">
            <a:extLst xmlns:a="http://schemas.openxmlformats.org/drawingml/2006/main">
              <a:ext uri="{FF2B5EF4-FFF2-40B4-BE49-F238E27FC236}">
                <a16:creationId xmlns:a16="http://schemas.microsoft.com/office/drawing/2014/main" id="{0F12F776-33A7-468F-8A43-07C1F3F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7" name="node-num-7-2">
            <a:extLst xmlns:a="http://schemas.openxmlformats.org/drawingml/2006/main">
              <a:ext uri="{FF2B5EF4-FFF2-40B4-BE49-F238E27FC236}">
                <a16:creationId xmlns:a16="http://schemas.microsoft.com/office/drawing/2014/main" id="{7E794300-68DE-4525-BDE3-ED23CDCC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node-title-7-2">
            <a:extLst xmlns:a="http://schemas.openxmlformats.org/drawingml/2006/main">
              <a:ext uri="{FF2B5EF4-FFF2-40B4-BE49-F238E27FC236}">
                <a16:creationId xmlns:a16="http://schemas.microsoft.com/office/drawing/2014/main" id="{DC33AB3C-A073-497E-B046-C9B65FC4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创建题目</a:t>
            </a:r>
          </a:p>
        </p:txBody>
      </p:sp>
      <p:sp>
        <p:nvSpPr>
          <p:cNvPr id="19" name="node-7-3">
            <a:extLst xmlns:a="http://schemas.openxmlformats.org/drawingml/2006/main">
              <a:ext uri="{FF2B5EF4-FFF2-40B4-BE49-F238E27FC236}">
                <a16:creationId xmlns:a16="http://schemas.microsoft.com/office/drawing/2014/main" id="{6B08B1AF-256A-4547-B22C-A8EBB90F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20" name="node-num-7-3">
            <a:extLst xmlns:a="http://schemas.openxmlformats.org/drawingml/2006/main">
              <a:ext uri="{FF2B5EF4-FFF2-40B4-BE49-F238E27FC236}">
                <a16:creationId xmlns:a16="http://schemas.microsoft.com/office/drawing/2014/main" id="{E3ADD818-E2E0-4A25-B1BA-CD66B6A4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node-title-7-3">
            <a:extLst xmlns:a="http://schemas.openxmlformats.org/drawingml/2006/main">
              <a:ext uri="{FF2B5EF4-FFF2-40B4-BE49-F238E27FC236}">
                <a16:creationId xmlns:a16="http://schemas.microsoft.com/office/drawing/2014/main" id="{8B08B0EF-8AE1-47CC-BB05-631FB520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录入用例</a:t>
            </a:r>
          </a:p>
        </p:txBody>
      </p:sp>
      <p:sp>
        <p:nvSpPr>
          <p:cNvPr id="22" name="node-7-4">
            <a:extLst xmlns:a="http://schemas.openxmlformats.org/drawingml/2006/main">
              <a:ext uri="{FF2B5EF4-FFF2-40B4-BE49-F238E27FC236}">
                <a16:creationId xmlns:a16="http://schemas.microsoft.com/office/drawing/2014/main" id="{F487B56A-6AEE-4C24-9D35-B851DB9F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23" name="node-num-7-4">
            <a:extLst xmlns:a="http://schemas.openxmlformats.org/drawingml/2006/main">
              <a:ext uri="{FF2B5EF4-FFF2-40B4-BE49-F238E27FC236}">
                <a16:creationId xmlns:a16="http://schemas.microsoft.com/office/drawing/2014/main" id="{642F60EC-6D7F-4B6D-AFC6-8588A1B8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node-title-7-4">
            <a:extLst xmlns:a="http://schemas.openxmlformats.org/drawingml/2006/main">
              <a:ext uri="{FF2B5EF4-FFF2-40B4-BE49-F238E27FC236}">
                <a16:creationId xmlns:a16="http://schemas.microsoft.com/office/drawing/2014/main" id="{6D004564-290F-4572-8431-437FAD11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学生提交</a:t>
            </a:r>
          </a:p>
        </p:txBody>
      </p:sp>
      <p:sp>
        <p:nvSpPr>
          <p:cNvPr id="25" name="node-7-5">
            <a:extLst xmlns:a="http://schemas.openxmlformats.org/drawingml/2006/main">
              <a:ext uri="{FF2B5EF4-FFF2-40B4-BE49-F238E27FC236}">
                <a16:creationId xmlns:a16="http://schemas.microsoft.com/office/drawing/2014/main" id="{33CD2B52-4C6E-4BBC-BEB9-7CDE10BB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47900"/>
            <a:ext cx="1562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14288">
            <a:solidFill>
              <a:srgbClr val="138A5B"/>
            </a:solidFill>
            <a:prstDash val="solid"/>
          </a:ln>
        </p:spPr>
      </p:sp>
      <p:sp>
        <p:nvSpPr>
          <p:cNvPr id="26" name="node-num-7-5">
            <a:extLst xmlns:a="http://schemas.openxmlformats.org/drawingml/2006/main">
              <a:ext uri="{FF2B5EF4-FFF2-40B4-BE49-F238E27FC236}">
                <a16:creationId xmlns:a16="http://schemas.microsoft.com/office/drawing/2014/main" id="{D80408E1-B5A2-49E3-B81E-F28C6393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81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node-title-7-5">
            <a:extLst xmlns:a="http://schemas.openxmlformats.org/drawingml/2006/main">
              <a:ext uri="{FF2B5EF4-FFF2-40B4-BE49-F238E27FC236}">
                <a16:creationId xmlns:a16="http://schemas.microsoft.com/office/drawing/2014/main" id="{83F8BB1D-44F8-4A86-9CE9-B53B7FB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705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状态回查</a:t>
            </a:r>
          </a:p>
        </p:txBody>
      </p:sp>
      <p:sp>
        <p:nvSpPr>
          <p:cNvPr id="28" name="mapping-7">
            <a:extLst xmlns:a="http://schemas.openxmlformats.org/drawingml/2006/main">
              <a:ext uri="{FF2B5EF4-FFF2-40B4-BE49-F238E27FC236}">
                <a16:creationId xmlns:a16="http://schemas.microsoft.com/office/drawing/2014/main" id="{9206818A-8B32-4BDF-A426-F9595CF9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CD0FF"/>
            </a:solidFill>
            <a:prstDash val="solid"/>
          </a:ln>
        </p:spPr>
      </p:sp>
      <p:sp>
        <p:nvSpPr>
          <p:cNvPr id="29" name="mapping-title-7">
            <a:extLst xmlns:a="http://schemas.openxmlformats.org/drawingml/2006/main">
              <a:ext uri="{FF2B5EF4-FFF2-40B4-BE49-F238E27FC236}">
                <a16:creationId xmlns:a16="http://schemas.microsoft.com/office/drawing/2014/main" id="{597B0983-9C81-43B8-B5B5-9F75154E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追溯映射</a:t>
            </a:r>
          </a:p>
        </p:txBody>
      </p:sp>
      <p:sp>
        <p:nvSpPr>
          <p:cNvPr id="30" name="mapping-body-7">
            <a:extLst xmlns:a="http://schemas.openxmlformats.org/drawingml/2006/main">
              <a:ext uri="{FF2B5EF4-FFF2-40B4-BE49-F238E27FC236}">
                <a16:creationId xmlns:a16="http://schemas.microsoft.com/office/drawing/2014/main" id="{9F1FFA67-DA78-48FD-AA2A-73791922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REQ-06 → SYS/COMP/OBJ-SEQ-06 → LabSetRoutes / LabSubmitService → UNIT-06 → API-06 → E2E-06</a:t>
            </a:r>
          </a:p>
        </p:txBody>
      </p:sp>
    </p:spTree>
    <p:extLst>
      <p:ext uri="{BB962C8B-B14F-4D97-AF65-F5344CB8AC3E}">
        <p14:creationId xmlns:p14="http://schemas.microsoft.com/office/powerpoint/2010/main" val="1140026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8">
            <a:extLst xmlns:a="http://schemas.openxmlformats.org/drawingml/2006/main">
              <a:ext uri="{FF2B5EF4-FFF2-40B4-BE49-F238E27FC236}">
                <a16:creationId xmlns:a16="http://schemas.microsoft.com/office/drawing/2014/main" id="{45A29586-7655-4474-BA17-6E4F0F9D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05 · DELIVERY GATES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D160AD3-67C0-4447-984F-DD7749F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CI/CD与Kubernetes：测试失败必须阻断交付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A79B5893-78F8-43AA-AC09-EA19A1FD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F3215CDC-0103-4B5E-B625-96694ECB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ci-link-0">
            <a:extLst xmlns:a="http://schemas.openxmlformats.org/drawingml/2006/main">
              <a:ext uri="{FF2B5EF4-FFF2-40B4-BE49-F238E27FC236}">
                <a16:creationId xmlns:a16="http://schemas.microsoft.com/office/drawing/2014/main" id="{DA2C6CA0-B30D-4F9C-A3D0-A9316BC9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6" name="ci-link-1">
            <a:extLst xmlns:a="http://schemas.openxmlformats.org/drawingml/2006/main">
              <a:ext uri="{FF2B5EF4-FFF2-40B4-BE49-F238E27FC236}">
                <a16:creationId xmlns:a16="http://schemas.microsoft.com/office/drawing/2014/main" id="{31548789-6B0D-4BAB-B4AE-4858F2FC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7" name="ci-link-2">
            <a:extLst xmlns:a="http://schemas.openxmlformats.org/drawingml/2006/main">
              <a:ext uri="{FF2B5EF4-FFF2-40B4-BE49-F238E27FC236}">
                <a16:creationId xmlns:a16="http://schemas.microsoft.com/office/drawing/2014/main" id="{4BA3CFBD-FF15-4EEB-922E-4722347B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8" name="ci-link-3">
            <a:extLst xmlns:a="http://schemas.openxmlformats.org/drawingml/2006/main">
              <a:ext uri="{FF2B5EF4-FFF2-40B4-BE49-F238E27FC236}">
                <a16:creationId xmlns:a16="http://schemas.microsoft.com/office/drawing/2014/main" id="{6C1FE74D-E150-4DE7-8AAD-EDF1A809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9" name="ci-node-0">
            <a:extLst xmlns:a="http://schemas.openxmlformats.org/drawingml/2006/main">
              <a:ext uri="{FF2B5EF4-FFF2-40B4-BE49-F238E27FC236}">
                <a16:creationId xmlns:a16="http://schemas.microsoft.com/office/drawing/2014/main" id="{0AB0113C-DE31-49C8-B48F-E7CE7287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447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</p:sp>
      <p:sp>
        <p:nvSpPr>
          <p:cNvPr id="10" name="ci-label-0">
            <a:extLst xmlns:a="http://schemas.openxmlformats.org/drawingml/2006/main">
              <a:ext uri="{FF2B5EF4-FFF2-40B4-BE49-F238E27FC236}">
                <a16:creationId xmlns:a16="http://schemas.microsoft.com/office/drawing/2014/main" id="{E5F2782D-F61F-46EE-923E-7E6AAED8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安装依赖</a:t>
            </a:r>
          </a:p>
        </p:txBody>
      </p:sp>
      <p:sp>
        <p:nvSpPr>
          <p:cNvPr id="11" name="ci-node-1">
            <a:extLst xmlns:a="http://schemas.openxmlformats.org/drawingml/2006/main">
              <a:ext uri="{FF2B5EF4-FFF2-40B4-BE49-F238E27FC236}">
                <a16:creationId xmlns:a16="http://schemas.microsoft.com/office/drawing/2014/main" id="{B003B09C-EFC6-463B-9A8C-F740569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447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2A4C7"/>
            </a:solidFill>
            <a:prstDash val="solid"/>
          </a:ln>
        </p:spPr>
      </p:sp>
      <p:sp>
        <p:nvSpPr>
          <p:cNvPr id="12" name="ci-label-1">
            <a:extLst xmlns:a="http://schemas.openxmlformats.org/drawingml/2006/main">
              <a:ext uri="{FF2B5EF4-FFF2-40B4-BE49-F238E27FC236}">
                <a16:creationId xmlns:a16="http://schemas.microsoft.com/office/drawing/2014/main" id="{400E311F-219E-49C0-A9E2-5B74D041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构建</a:t>
            </a:r>
          </a:p>
        </p:txBody>
      </p:sp>
      <p:sp>
        <p:nvSpPr>
          <p:cNvPr id="13" name="ci-node-2">
            <a:extLst xmlns:a="http://schemas.openxmlformats.org/drawingml/2006/main">
              <a:ext uri="{FF2B5EF4-FFF2-40B4-BE49-F238E27FC236}">
                <a16:creationId xmlns:a16="http://schemas.microsoft.com/office/drawing/2014/main" id="{8D462353-F964-4819-A9F7-9CFCB553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1447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4" name="ci-label-2">
            <a:extLst xmlns:a="http://schemas.openxmlformats.org/drawingml/2006/main">
              <a:ext uri="{FF2B5EF4-FFF2-40B4-BE49-F238E27FC236}">
                <a16:creationId xmlns:a16="http://schemas.microsoft.com/office/drawing/2014/main" id="{E48F37B8-F051-40BA-9A28-25C012F8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146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Unit + DAO</a:t>
            </a:r>
          </a:p>
        </p:txBody>
      </p:sp>
      <p:sp>
        <p:nvSpPr>
          <p:cNvPr id="15" name="ci-node-3">
            <a:extLst xmlns:a="http://schemas.openxmlformats.org/drawingml/2006/main">
              <a:ext uri="{FF2B5EF4-FFF2-40B4-BE49-F238E27FC236}">
                <a16:creationId xmlns:a16="http://schemas.microsoft.com/office/drawing/2014/main" id="{69EA3AC8-9A65-43DE-8EE5-2041F6A3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1447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6" name="ci-label-3">
            <a:extLst xmlns:a="http://schemas.openxmlformats.org/drawingml/2006/main">
              <a:ext uri="{FF2B5EF4-FFF2-40B4-BE49-F238E27FC236}">
                <a16:creationId xmlns:a16="http://schemas.microsoft.com/office/drawing/2014/main" id="{4802F544-FC78-44CF-81E4-1B13B98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146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API + E2E</a:t>
            </a:r>
          </a:p>
        </p:txBody>
      </p:sp>
      <p:sp>
        <p:nvSpPr>
          <p:cNvPr id="17" name="ci-node-4">
            <a:extLst xmlns:a="http://schemas.openxmlformats.org/drawingml/2006/main">
              <a:ext uri="{FF2B5EF4-FFF2-40B4-BE49-F238E27FC236}">
                <a16:creationId xmlns:a16="http://schemas.microsoft.com/office/drawing/2014/main" id="{8A2B514B-CFE5-45F4-B413-C78025BD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47900"/>
            <a:ext cx="1447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8A5B"/>
            </a:solidFill>
            <a:prstDash val="solid"/>
          </a:ln>
        </p:spPr>
      </p:sp>
      <p:sp>
        <p:nvSpPr>
          <p:cNvPr id="18" name="ci-label-4">
            <a:extLst xmlns:a="http://schemas.openxmlformats.org/drawingml/2006/main">
              <a:ext uri="{FF2B5EF4-FFF2-40B4-BE49-F238E27FC236}">
                <a16:creationId xmlns:a16="http://schemas.microsoft.com/office/drawing/2014/main" id="{D7D6AD70-6D96-41B2-909E-98CE420B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1460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镜像/部署</a:t>
            </a:r>
          </a:p>
        </p:txBody>
      </p:sp>
      <p:sp>
        <p:nvSpPr>
          <p:cNvPr id="19" name="ci-proof-card">
            <a:extLst xmlns:a="http://schemas.openxmlformats.org/drawingml/2006/main">
              <a:ext uri="{FF2B5EF4-FFF2-40B4-BE49-F238E27FC236}">
                <a16:creationId xmlns:a16="http://schemas.microsoft.com/office/drawing/2014/main" id="{D5E5EC58-9DB9-40E0-BBC2-8951E7C9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953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A7E3C8"/>
            </a:solidFill>
            <a:prstDash val="solid"/>
          </a:ln>
        </p:spPr>
      </p:sp>
      <p:sp>
        <p:nvSpPr>
          <p:cNvPr id="20" name="ci-proof-accent">
            <a:extLst xmlns:a="http://schemas.openxmlformats.org/drawingml/2006/main">
              <a:ext uri="{FF2B5EF4-FFF2-40B4-BE49-F238E27FC236}">
                <a16:creationId xmlns:a16="http://schemas.microsoft.com/office/drawing/2014/main" id="{0084AC2D-1B85-4F26-8440-F18E94C4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</a:ln>
        </p:spPr>
      </p:sp>
      <p:sp>
        <p:nvSpPr>
          <p:cNvPr id="21" name="ci-proof-title">
            <a:extLst xmlns:a="http://schemas.openxmlformats.org/drawingml/2006/main">
              <a:ext uri="{FF2B5EF4-FFF2-40B4-BE49-F238E27FC236}">
                <a16:creationId xmlns:a16="http://schemas.microsoft.com/office/drawing/2014/main" id="{FC90FDBA-2099-4F7B-9941-6FB4F9C6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故障注入：阻断生效</a:t>
            </a:r>
          </a:p>
        </p:txBody>
      </p:sp>
      <p:sp>
        <p:nvSpPr>
          <p:cNvPr id="22" name="ci-proof-body">
            <a:extLst xmlns:a="http://schemas.openxmlformats.org/drawingml/2006/main">
              <a:ext uri="{FF2B5EF4-FFF2-40B4-BE49-F238E27FC236}">
                <a16:creationId xmlns:a16="http://schemas.microsoft.com/office/drawing/2014/main" id="{CD359EDF-89FD-4C99-AECA-E0645689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注入退出码17后，downstream-image-build 未执行。</a:t>
            </a:r>
          </a:p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pipelineBlocked = true</a:t>
            </a:r>
          </a:p>
        </p:txBody>
      </p:sp>
      <p:sp>
        <p:nvSpPr>
          <p:cNvPr id="23" name="k8s-proof-card">
            <a:extLst xmlns:a="http://schemas.openxmlformats.org/drawingml/2006/main">
              <a:ext uri="{FF2B5EF4-FFF2-40B4-BE49-F238E27FC236}">
                <a16:creationId xmlns:a16="http://schemas.microsoft.com/office/drawing/2014/main" id="{4DA0E89B-FE2C-453F-8378-8162CFD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4953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A7E3C8"/>
            </a:solidFill>
            <a:prstDash val="solid"/>
          </a:ln>
        </p:spPr>
      </p:sp>
      <p:sp>
        <p:nvSpPr>
          <p:cNvPr id="24" name="k8s-proof-accent">
            <a:extLst xmlns:a="http://schemas.openxmlformats.org/drawingml/2006/main">
              <a:ext uri="{FF2B5EF4-FFF2-40B4-BE49-F238E27FC236}">
                <a16:creationId xmlns:a16="http://schemas.microsoft.com/office/drawing/2014/main" id="{CEB33AF8-1980-4711-B44C-A09ED656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0"/>
            <a:ext cx="666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</a:ln>
        </p:spPr>
      </p:sp>
      <p:sp>
        <p:nvSpPr>
          <p:cNvPr id="25" name="k8s-proof-title">
            <a:extLst xmlns:a="http://schemas.openxmlformats.org/drawingml/2006/main">
              <a:ext uri="{FF2B5EF4-FFF2-40B4-BE49-F238E27FC236}">
                <a16:creationId xmlns:a16="http://schemas.microsoft.com/office/drawing/2014/main" id="{33A5159F-084F-4AC6-9E85-00F64628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K8s回归：10/10通过</a:t>
            </a:r>
          </a:p>
        </p:txBody>
      </p:sp>
      <p:sp>
        <p:nvSpPr>
          <p:cNvPr id="26" name="k8s-proof-body">
            <a:extLst xmlns:a="http://schemas.openxmlformats.org/drawingml/2006/main">
              <a:ext uri="{FF2B5EF4-FFF2-40B4-BE49-F238E27FC236}">
                <a16:creationId xmlns:a16="http://schemas.microsoft.com/office/drawing/2014/main" id="{9D52EA91-72C4-4581-956B-E2536262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4495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Docker Desktop Kubernetes部署完成；同一套E2E在容器环境再次全绿。</a:t>
            </a:r>
          </a:p>
        </p:txBody>
      </p:sp>
    </p:spTree>
    <p:extLst>
      <p:ext uri="{BB962C8B-B14F-4D97-AF65-F5344CB8AC3E}">
        <p14:creationId xmlns:p14="http://schemas.microsoft.com/office/powerpoint/2010/main" val="171683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9">
            <a:extLst xmlns:a="http://schemas.openxmlformats.org/drawingml/2006/main">
              <a:ext uri="{FF2B5EF4-FFF2-40B4-BE49-F238E27FC236}">
                <a16:creationId xmlns:a16="http://schemas.microsoft.com/office/drawing/2014/main" id="{46DB4481-396A-4D86-ACC6-D734648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06 · CONCLUSION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24390E6-A4D3-420C-9760-60AC5DC8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结论：覆盖、追溯、阻断三项验收闭环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BF5DBBBD-BDF6-4B2A-997E-737D9987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B08FCFD7-0A1D-4C73-9543-83D9F714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conclusion-coverage-card">
            <a:extLst xmlns:a="http://schemas.openxmlformats.org/drawingml/2006/main">
              <a:ext uri="{FF2B5EF4-FFF2-40B4-BE49-F238E27FC236}">
                <a16:creationId xmlns:a16="http://schemas.microsoft.com/office/drawing/2014/main" id="{C73F73AA-4C4D-4888-8691-69807FFA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766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A7E3C8"/>
            </a:solidFill>
            <a:prstDash val="solid"/>
          </a:ln>
        </p:spPr>
      </p:sp>
      <p:sp>
        <p:nvSpPr>
          <p:cNvPr id="6" name="conclusion-coverage-accent">
            <a:extLst xmlns:a="http://schemas.openxmlformats.org/drawingml/2006/main">
              <a:ext uri="{FF2B5EF4-FFF2-40B4-BE49-F238E27FC236}">
                <a16:creationId xmlns:a16="http://schemas.microsoft.com/office/drawing/2014/main" id="{5D7F0A95-06FA-458C-BDD5-FC408A79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5B"/>
          </a:solidFill>
          <a:ln xmlns:a="http://schemas.openxmlformats.org/drawingml/2006/main" w="0">
            <a:noFill/>
          </a:ln>
        </p:spPr>
      </p:sp>
      <p:sp>
        <p:nvSpPr>
          <p:cNvPr id="7" name="conclusion-coverage-title">
            <a:extLst xmlns:a="http://schemas.openxmlformats.org/drawingml/2006/main">
              <a:ext uri="{FF2B5EF4-FFF2-40B4-BE49-F238E27FC236}">
                <a16:creationId xmlns:a16="http://schemas.microsoft.com/office/drawing/2014/main" id="{203F3A0D-99AA-4C90-9013-D954659B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覆盖</a:t>
            </a:r>
          </a:p>
        </p:txBody>
      </p:sp>
      <p:sp>
        <p:nvSpPr>
          <p:cNvPr id="8" name="conclusion-coverage-body">
            <a:extLst xmlns:a="http://schemas.openxmlformats.org/drawingml/2006/main">
              <a:ext uri="{FF2B5EF4-FFF2-40B4-BE49-F238E27FC236}">
                <a16:creationId xmlns:a16="http://schemas.microsoft.com/office/drawing/2014/main" id="{1F4FA79C-9243-47FC-8F51-8FB0E7BB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819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10个用例</a:t>
            </a:r>
          </a:p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10条API主流程</a:t>
            </a:r>
          </a:p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10条完整E2E</a:t>
            </a:r>
          </a:p>
        </p:txBody>
      </p:sp>
      <p:sp>
        <p:nvSpPr>
          <p:cNvPr id="9" name="conclusion-trace-card">
            <a:extLst xmlns:a="http://schemas.openxmlformats.org/drawingml/2006/main">
              <a:ext uri="{FF2B5EF4-FFF2-40B4-BE49-F238E27FC236}">
                <a16:creationId xmlns:a16="http://schemas.microsoft.com/office/drawing/2014/main" id="{30C51C9A-9504-47B2-B51D-4FBFB567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32766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CD0FF"/>
            </a:solidFill>
            <a:prstDash val="solid"/>
          </a:ln>
        </p:spPr>
      </p:sp>
      <p:sp>
        <p:nvSpPr>
          <p:cNvPr id="10" name="conclusion-trace-accent">
            <a:extLst xmlns:a="http://schemas.openxmlformats.org/drawingml/2006/main">
              <a:ext uri="{FF2B5EF4-FFF2-40B4-BE49-F238E27FC236}">
                <a16:creationId xmlns:a16="http://schemas.microsoft.com/office/drawing/2014/main" id="{144F4231-2E07-491A-AF1A-DB47E668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</a:ln>
        </p:spPr>
      </p:sp>
      <p:sp>
        <p:nvSpPr>
          <p:cNvPr id="11" name="conclusion-trace-title">
            <a:extLst xmlns:a="http://schemas.openxmlformats.org/drawingml/2006/main">
              <a:ext uri="{FF2B5EF4-FFF2-40B4-BE49-F238E27FC236}">
                <a16:creationId xmlns:a16="http://schemas.microsoft.com/office/drawing/2014/main" id="{0A476FEB-43A2-4215-B8FF-4D716645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追溯</a:t>
            </a:r>
          </a:p>
        </p:txBody>
      </p:sp>
      <p:sp>
        <p:nvSpPr>
          <p:cNvPr id="12" name="conclusion-trace-body">
            <a:extLst xmlns:a="http://schemas.openxmlformats.org/drawingml/2006/main">
              <a:ext uri="{FF2B5EF4-FFF2-40B4-BE49-F238E27FC236}">
                <a16:creationId xmlns:a16="http://schemas.microsoft.com/office/drawing/2014/main" id="{F039F6CA-BFE0-4E4A-9E47-CF511FC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19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需求 → 三层设计</a:t>
            </a:r>
          </a:p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→ 代码模块</a:t>
            </a:r>
          </a:p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→ 四层测试</a:t>
            </a:r>
          </a:p>
        </p:txBody>
      </p:sp>
      <p:sp>
        <p:nvSpPr>
          <p:cNvPr id="13" name="conclusion-gate-card">
            <a:extLst xmlns:a="http://schemas.openxmlformats.org/drawingml/2006/main">
              <a:ext uri="{FF2B5EF4-FFF2-40B4-BE49-F238E27FC236}">
                <a16:creationId xmlns:a16="http://schemas.microsoft.com/office/drawing/2014/main" id="{8EFB7C1B-889A-45CC-B67A-F3140CD3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2766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0D6A0"/>
            </a:solidFill>
            <a:prstDash val="solid"/>
          </a:ln>
        </p:spPr>
      </p:sp>
      <p:sp>
        <p:nvSpPr>
          <p:cNvPr id="14" name="conclusion-gate-accent">
            <a:extLst xmlns:a="http://schemas.openxmlformats.org/drawingml/2006/main">
              <a:ext uri="{FF2B5EF4-FFF2-40B4-BE49-F238E27FC236}">
                <a16:creationId xmlns:a16="http://schemas.microsoft.com/office/drawing/2014/main" id="{77BD0D1B-7135-436A-BF67-303C13E5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66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</a:ln>
        </p:spPr>
      </p:sp>
      <p:sp>
        <p:nvSpPr>
          <p:cNvPr id="15" name="conclusion-gate-title">
            <a:extLst xmlns:a="http://schemas.openxmlformats.org/drawingml/2006/main">
              <a:ext uri="{FF2B5EF4-FFF2-40B4-BE49-F238E27FC236}">
                <a16:creationId xmlns:a16="http://schemas.microsoft.com/office/drawing/2014/main" id="{3F224407-2997-4B1B-91B1-D9B994AF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阻断</a:t>
            </a:r>
          </a:p>
        </p:txBody>
      </p:sp>
      <p:sp>
        <p:nvSpPr>
          <p:cNvPr id="16" name="conclusion-gate-body">
            <a:extLst xmlns:a="http://schemas.openxmlformats.org/drawingml/2006/main">
              <a:ext uri="{FF2B5EF4-FFF2-40B4-BE49-F238E27FC236}">
                <a16:creationId xmlns:a16="http://schemas.microsoft.com/office/drawing/2014/main" id="{6CB81674-3A41-4302-9CD6-A3CBCC6C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2819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本机全绿</a:t>
            </a:r>
          </a:p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CI失败即停</a:t>
            </a:r>
          </a:p>
          <a:p xmlns:a="http://schemas.openxmlformats.org/drawingml/2006/main">
            <a:pPr algn="l"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K8s容器回归</a:t>
            </a:r>
          </a:p>
        </p:txBody>
      </p:sp>
      <p:sp>
        <p:nvSpPr>
          <p:cNvPr id="17" name="conclusion-line">
            <a:extLst xmlns:a="http://schemas.openxmlformats.org/drawingml/2006/main">
              <a:ext uri="{FF2B5EF4-FFF2-40B4-BE49-F238E27FC236}">
                <a16:creationId xmlns:a16="http://schemas.microsoft.com/office/drawing/2014/main" id="{8DBB5DBD-D520-48C4-9EF1-63C5D4A0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8A5B"/>
                </a:solidFill>
                <a:latin typeface="Microsoft YaHei"/>
                <a:ea typeface="Microsoft YaHei"/>
                <a:cs typeface="Microsoft YaHei"/>
              </a:rPr>
              <a:t>最终状态：全部交付物齐全，测试链路可复现、可审计、可答辩。</a:t>
            </a:r>
          </a:p>
        </p:txBody>
      </p:sp>
    </p:spTree>
    <p:extLst>
      <p:ext uri="{BB962C8B-B14F-4D97-AF65-F5344CB8AC3E}">
        <p14:creationId xmlns:p14="http://schemas.microsoft.com/office/powerpoint/2010/main" val="1445848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2026-08-28T15:22:43.4630000Z</dcterms:created>
  <dcterms:modified xsi:type="dcterms:W3CDTF">2026-08-28T15:22:43.4630000Z</dcterms:modified>
</coreProperties>
</file>